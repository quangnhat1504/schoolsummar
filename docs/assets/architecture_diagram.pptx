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144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Arial"/>
              </a:rPr>
              <a:t>SchoolSummar RAG — Full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78407"/>
            <a:ext cx="111858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1. INGESTION &amp; DOCUMENT INDEXING (OFFLINE / ASYNC)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35808"/>
            <a:ext cx="111858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2. ONLINE RETRIEVAL &amp; CONTEXT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93207"/>
            <a:ext cx="111858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3. MULTI-LLM REASONING &amp; GROUNDED VERIFICATION</a:t>
            </a:r>
          </a:p>
        </p:txBody>
      </p:sp>
      <p:sp>
        <p:nvSpPr>
          <p:cNvPr id="6" name="Document 5"/>
          <p:cNvSpPr/>
          <p:nvPr/>
        </p:nvSpPr>
        <p:spPr>
          <a:xfrm>
            <a:off x="548640" y="1344167"/>
            <a:ext cx="1907301" cy="91440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Scientific Papers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(PDF Multi-Column)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9530" y="1344167"/>
            <a:ext cx="2235607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Docling AST Parser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(OCR &amp; Table Analysis)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26" y="1412747"/>
            <a:ext cx="2130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Structure-Aware Chunker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(100% Table Preservation)</a:t>
            </a:r>
          </a:p>
        </p:txBody>
      </p:sp>
      <p:sp>
        <p:nvSpPr>
          <p:cNvPr id="9" name="Cube 8"/>
          <p:cNvSpPr/>
          <p:nvPr/>
        </p:nvSpPr>
        <p:spPr>
          <a:xfrm>
            <a:off x="7642395" y="1344167"/>
            <a:ext cx="1172521" cy="914400"/>
          </a:xfrm>
          <a:prstGeom prst="cube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Dense Embeddings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(bge-large-en-v1.5)</a:t>
            </a:r>
          </a:p>
        </p:txBody>
      </p:sp>
      <p:sp>
        <p:nvSpPr>
          <p:cNvPr id="10" name="Can 9"/>
          <p:cNvSpPr/>
          <p:nvPr/>
        </p:nvSpPr>
        <p:spPr>
          <a:xfrm>
            <a:off x="9088504" y="1344167"/>
            <a:ext cx="2645990" cy="914400"/>
          </a:xfrm>
          <a:prstGeom prst="can">
            <a:avLst/>
          </a:prstGeom>
          <a:solidFill>
            <a:srgbClr val="0284C7"/>
          </a:solidFill>
          <a:ln w="19050">
            <a:solidFill>
              <a:srgbClr val="0369A1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Qdrant Cloud &amp; Supabase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(1536-dim HNSW + JSONB AST)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48640" y="3401568"/>
            <a:ext cx="2223194" cy="91440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User Research Query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(Natural Language)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7577" y="3401568"/>
            <a:ext cx="24066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Query Encoder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(Shared Vector Space)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89962" y="3401568"/>
            <a:ext cx="2865256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Hybrid Payload Retrieval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(Filter by paperId &amp; page)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0962" y="3401568"/>
            <a:ext cx="2773533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Grounded Context Assembly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(Breadcrumbs &amp; Passages)</a:t>
            </a:r>
          </a:p>
        </p:txBody>
      </p:sp>
      <p:sp>
        <p:nvSpPr>
          <p:cNvPr id="15" name="Hexagon 14"/>
          <p:cNvSpPr/>
          <p:nvPr/>
        </p:nvSpPr>
        <p:spPr>
          <a:xfrm>
            <a:off x="548640" y="5458968"/>
            <a:ext cx="2942599" cy="914400"/>
          </a:xfrm>
          <a:prstGeom prst="hexagon">
            <a:avLst/>
          </a:prstGeom>
          <a:solidFill>
            <a:srgbClr val="0284C7"/>
          </a:solidFill>
          <a:ln w="19050">
            <a:solidFill>
              <a:srgbClr val="0369A1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Multi-LLM Gateway Router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(Groq Llama 3 / Local Qwen2.5)</a:t>
            </a:r>
          </a:p>
        </p:txBody>
      </p:sp>
      <p:sp>
        <p:nvSpPr>
          <p:cNvPr id="16" name="Diamond 15"/>
          <p:cNvSpPr/>
          <p:nvPr/>
        </p:nvSpPr>
        <p:spPr>
          <a:xfrm>
            <a:off x="3769593" y="5458968"/>
            <a:ext cx="2692081" cy="914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Negative Rejection Gate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(Zero Hallucination Filter)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0028" y="5458968"/>
            <a:ext cx="2525068" cy="91440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0369A1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Typewriter SSE Engine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(Realtime Token-by-Token)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9543451" y="5458968"/>
            <a:ext cx="2191043" cy="914400"/>
          </a:xfrm>
          <a:prstGeom prst="wedgeRoundRectCallout">
            <a:avLst/>
          </a:prstGeom>
          <a:solidFill>
            <a:srgbClr val="0284C7"/>
          </a:solidFill>
          <a:ln w="19050">
            <a:solidFill>
              <a:srgbClr val="0369A1"/>
            </a:solidFill>
          </a:ln>
          <a:effectLst/>
        </p:spPr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Interactive Answer &amp;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Bounding Box Receipts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5941" y="1801367"/>
            <a:ext cx="273589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65137" y="1801367"/>
            <a:ext cx="273589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8806" y="1801367"/>
            <a:ext cx="273589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14916" y="1801367"/>
            <a:ext cx="273588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71834" y="3858768"/>
            <a:ext cx="305743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84218" y="3706367"/>
            <a:ext cx="305744" cy="152401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11500" y="2258568"/>
            <a:ext cx="0" cy="571500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222590" y="2830068"/>
            <a:ext cx="3188910" cy="0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22590" y="2830068"/>
            <a:ext cx="0" cy="571500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45445" y="2628899"/>
            <a:ext cx="27432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i="1">
                <a:solidFill>
                  <a:srgbClr val="475569"/>
                </a:solidFill>
                <a:latin typeface="Arial"/>
              </a:rPr>
              <a:t>HNSW Cosine lookup (18ms)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5218" y="3858768"/>
            <a:ext cx="305744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347728" y="3858768"/>
            <a:ext cx="1386767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347728" y="3858768"/>
            <a:ext cx="0" cy="205740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48640" y="5916168"/>
            <a:ext cx="9799088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91239" y="5916168"/>
            <a:ext cx="278354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61674" y="5916168"/>
            <a:ext cx="278354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65097" y="5916168"/>
            <a:ext cx="278354" cy="0"/>
          </a:xfrm>
          <a:prstGeom prst="line">
            <a:avLst/>
          </a:prstGeom>
          <a:ln w="19050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638973" y="3858768"/>
            <a:ext cx="0" cy="1600200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502290" y="3858768"/>
            <a:ext cx="9136683" cy="0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502290" y="2258568"/>
            <a:ext cx="0" cy="1600200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99032" y="3657599"/>
            <a:ext cx="27432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i="1">
                <a:solidFill>
                  <a:srgbClr val="475569"/>
                </a:solidFill>
                <a:latin typeface="Arial"/>
              </a:rPr>
              <a:t>BBox Highlight Verification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7943" y="6446520"/>
            <a:ext cx="44165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  <a:latin typeface="Arial"/>
              </a:rPr>
              <a:t>— data flow      ---- index lookup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